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KAIROS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timing makes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21408"/>
            <a:ext cx="4343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Adaptive Predictive Maintenance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with machine-specific baselines,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fleet context, and LLM-assisted actioning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51560"/>
            <a:ext cx="2331720" cy="173736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1887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"/>
              </a:rPr>
              <a:t>CNC_01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61288"/>
            <a:ext cx="786384" cy="21031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184148"/>
            <a:ext cx="7132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onsolas"/>
              </a:rPr>
              <a:t>DEGRADING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3952" y="2057400"/>
            <a:ext cx="164592" cy="411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21424" y="1965960"/>
            <a:ext cx="164592" cy="4846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8896" y="1874520"/>
            <a:ext cx="164592" cy="55778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16368" y="1783080"/>
            <a:ext cx="164592" cy="63093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691640"/>
            <a:ext cx="164592" cy="7040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18745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Bearing wear developing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051560"/>
            <a:ext cx="2331720" cy="173736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1887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"/>
              </a:rPr>
              <a:t>CNC_02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8" y="1161288"/>
            <a:ext cx="786384" cy="21031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87584" y="1184148"/>
            <a:ext cx="7132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onsolas"/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5712" y="2057400"/>
            <a:ext cx="164592" cy="4114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73184" y="1965960"/>
            <a:ext cx="164592" cy="4846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0656" y="1874520"/>
            <a:ext cx="164592" cy="557784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68128" y="1783080"/>
            <a:ext cx="164592" cy="63093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15600" y="1691640"/>
            <a:ext cx="164592" cy="70408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2359152"/>
            <a:ext cx="18745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Thermal runaway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154679"/>
            <a:ext cx="2331720" cy="173736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291839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"/>
              </a:rPr>
              <a:t>PUMP_03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3264407"/>
            <a:ext cx="786384" cy="2103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35824" y="3287267"/>
            <a:ext cx="7132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onsolas"/>
              </a:rPr>
              <a:t>WARNING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4160519"/>
            <a:ext cx="164592" cy="411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21424" y="4069079"/>
            <a:ext cx="164592" cy="4846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68896" y="3977639"/>
            <a:ext cx="164592" cy="55778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16368" y="3886199"/>
            <a:ext cx="164592" cy="63093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63840" y="3794759"/>
            <a:ext cx="164592" cy="704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462271"/>
            <a:ext cx="18745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Cavitation burst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3154679"/>
            <a:ext cx="2331720" cy="173736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98280" y="3291839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"/>
              </a:rPr>
              <a:t>CONV_04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51008" y="3264407"/>
            <a:ext cx="786384" cy="21031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87584" y="3287267"/>
            <a:ext cx="7132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onsolas"/>
              </a:rPr>
              <a:t>SENTINEL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25712" y="4160519"/>
            <a:ext cx="164592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73184" y="4069079"/>
            <a:ext cx="164592" cy="484632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20656" y="3977639"/>
            <a:ext cx="164592" cy="55778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168128" y="3886199"/>
            <a:ext cx="164592" cy="63093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515600" y="3794759"/>
            <a:ext cx="164592" cy="7040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98280" y="4462271"/>
            <a:ext cx="18745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Reference healthy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Factories bleed money at both extremes.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40280" cy="2971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99616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ptos"/>
              </a:rPr>
              <a:t>TOO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74520"/>
            <a:ext cx="1965960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Preventive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(schedule-based)</a:t>
            </a:r>
          </a:p>
          <a:p>
            <a:pPr algn="l"/>
            <a:endParaRPr sz="1300" b="0">
              <a:solidFill>
                <a:srgbClr val="111111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Good parts replaced.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Production interrupted.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Budget wasted.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71600"/>
            <a:ext cx="2240280" cy="2971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499616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TOO 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874520"/>
            <a:ext cx="1965960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Reactive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(after failure)</a:t>
            </a:r>
          </a:p>
          <a:p>
            <a:pPr algn="l"/>
            <a:endParaRPr sz="1300" b="0">
              <a:solidFill>
                <a:srgbClr val="111111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Hard breakdown.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Unplanned downtime.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Costly emergency repair.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2240280" cy="2971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1499616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JUST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1874520"/>
            <a:ext cx="1965960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Predictive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(data-driven)</a:t>
            </a:r>
          </a:p>
          <a:p>
            <a:pPr algn="l"/>
            <a:endParaRPr sz="1300" b="0">
              <a:solidFill>
                <a:srgbClr val="111111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Catch drift early.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Schedule at optimal time.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Maximize uptime.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91640"/>
            <a:ext cx="3566160" cy="2286000"/>
          </a:xfrm>
          <a:prstGeom prst="roundRect">
            <a:avLst/>
          </a:prstGeom>
          <a:solidFill>
            <a:srgbClr val="0C1219"/>
          </a:solidFill>
          <a:ln>
            <a:solidFill>
              <a:srgbClr val="0C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$47B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889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3F4F6"/>
                </a:solidFill>
                <a:latin typeface="Aptos"/>
              </a:rPr>
              <a:t>in annual industrial downtime losses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WHAT MAKES THIS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Four compounding challenges no threshold can handle.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389120" cy="17373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545336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ptos"/>
              </a:rPr>
              <a:t>Slow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20240"/>
            <a:ext cx="411480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Bearings wear over weeks.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Thresholds miss gradual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5257800" cy="17373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545336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B5563"/>
                </a:solidFill>
                <a:latin typeface="Aptos"/>
              </a:rPr>
              <a:t>Phase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920240"/>
            <a:ext cx="498348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Startup and steady state behave differently.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Same metric, different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394960" cy="17373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3877055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Shared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51959"/>
            <a:ext cx="512064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Heat, sunlight, and HVAC affect all machines.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Not every spike is a 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749039"/>
            <a:ext cx="4434840" cy="17373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34072" y="3877055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Simultaneous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4251959"/>
            <a:ext cx="416052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Two machines can degrade at once.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Who goes first?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A pipeline where statistics lead and the LLM finalizes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Aptos"/>
              </a:rPr>
              <a:t>SENSOR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temp · vibration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rpm · current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7128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ADAPTIVE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per-machine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rolling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31336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95928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ptos"/>
              </a:rPr>
              <a:t>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rolling windows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MAD · z-score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544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0136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FLEET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env vs machine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fault isolation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24344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ptos"/>
              </a:rPr>
              <a:t>RUL 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Theil-Sen slope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health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88552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ptos"/>
              </a:rPr>
              <a:t>LLM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evidence packet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not raw streams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88168" y="2286000"/>
            <a:ext cx="15087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60" y="2414016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QUEUE &amp;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2788920"/>
            <a:ext cx="12344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ticket · schedule</a:t>
            </a:r>
          </a:p>
          <a:p>
            <a:pPr algn="l"/>
            <a:r>
              <a:rPr sz="800" b="0">
                <a:solidFill>
                  <a:srgbClr val="111111"/>
                </a:solidFill>
                <a:latin typeface="Aptos"/>
              </a:rPr>
              <a:t>shutdown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7492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onsolas"/>
              </a:rPr>
              <a:t>Statistical math does the heavy lifting  ·  LLM only sees compressed evidence packets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onsolas"/>
              </a:rPr>
              <a:t>LIVE 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Single-screen machine health, alerts, and operating state.</a:t>
            </a:r>
          </a:p>
        </p:txBody>
      </p:sp>
      <p:pic>
        <p:nvPicPr>
          <p:cNvPr id="4" name="Picture 3" descr="WhatsApp Image 2026-04-18 at 3.58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731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onsolas"/>
              </a:rPr>
              <a:t>Exact dashboard screenshot provided by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ROLLING WINDOWS &amp; STATISTICAL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Every second of data informs every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201168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1854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Aptos"/>
              </a:rPr>
              <a:t>20s FAST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1737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Immediate spike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057400"/>
            <a:ext cx="201168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6392" y="21854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ptos"/>
              </a:rPr>
              <a:t>30s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560320"/>
            <a:ext cx="1737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Verify anomaly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057400"/>
            <a:ext cx="201168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76672" y="21854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60s FLEET 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560320"/>
            <a:ext cx="1737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Cross-machine event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057400"/>
            <a:ext cx="201168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16952" y="21854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600s DEGRADATION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560320"/>
            <a:ext cx="1737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Theil-Sen trend slope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057400"/>
            <a:ext cx="201168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57232" y="21854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15min TIME-OF-DAY 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2560320"/>
            <a:ext cx="1737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Historical phase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069080"/>
            <a:ext cx="4754880" cy="1463040"/>
          </a:xfrm>
          <a:prstGeom prst="roundRect">
            <a:avLst/>
          </a:prstGeom>
          <a:solidFill>
            <a:srgbClr val="0C1219"/>
          </a:solidFill>
          <a:ln>
            <a:solidFill>
              <a:srgbClr val="0C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0" y="42976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MATH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590288"/>
            <a:ext cx="4160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3F4F6"/>
                </a:solidFill>
                <a:latin typeface="Consolas"/>
              </a:rPr>
              <a:t>median + MAD   ·   direction z-score   ·   persistence %</a:t>
            </a:r>
          </a:p>
          <a:p>
            <a:pPr algn="ctr"/>
            <a:r>
              <a:rPr sz="900" b="0">
                <a:solidFill>
                  <a:srgbClr val="F3F4F6"/>
                </a:solidFill>
                <a:latin typeface="Consolas"/>
              </a:rPr>
              <a:t>Theil-Sen slope   ·   compound rules   ·   machine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FLEET-WIDE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Not every anomaly is a machine 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Consolas"/>
              </a:rPr>
              <a:t>SCENARIO: 14:30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Aptos"/>
              </a:rPr>
              <a:t>Temperature rises on 3 of 4 machines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ptos"/>
              </a:rPr>
              <a:t>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508760"/>
            <a:ext cx="1828800" cy="960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22192" y="16367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ptos"/>
              </a:rPr>
              <a:t>CNC_01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2" y="201168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+4.2°C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AMBIENT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08760"/>
            <a:ext cx="1828800" cy="960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25312" y="16367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ptos"/>
              </a:rPr>
              <a:t>CNC_02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201168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+3.9°C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AMBIENT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834639"/>
            <a:ext cx="1828800" cy="960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2" y="2962655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ptos"/>
              </a:rPr>
              <a:t>PUMP_03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337559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+4.0°C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AMBIENT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834639"/>
            <a:ext cx="1828800" cy="960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2962655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ptos"/>
              </a:rPr>
              <a:t>CONV_04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3337559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+3.8°C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SENTINEL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25112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Aptos"/>
              </a:rPr>
              <a:t>Fleet Event Detected: likely sunlight, HVAC, or plant load shift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4754880" cy="10972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202936"/>
            <a:ext cx="4480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FLEET EVENT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577840"/>
            <a:ext cx="4480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Same-sign |z| &gt;= 2.5 on the same metric across at least 3 of 4 machines for 3 consecutive seconds within a 60-second context window.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074920"/>
            <a:ext cx="5303520" cy="10972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6752" y="5202936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Aptos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5577840"/>
            <a:ext cx="5029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Flag plant-wide environmental events, suppress false machine alerts, and avoid unnecessary maintenance tickets.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REMAINING USEFUL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Don't just detect, estimate how much time is left.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749039" cy="3108960"/>
          </a:xfrm>
          <a:prstGeom prst="roundRect">
            <a:avLst/>
          </a:prstGeom>
          <a:solidFill>
            <a:srgbClr val="0C121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773936"/>
            <a:ext cx="34747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RUL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3474719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remaining_life_minutes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~87 min</a:t>
            </a:r>
          </a:p>
          <a:p>
            <a:pPr algn="l"/>
            <a:endParaRPr sz="1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rul_confidence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0.82</a:t>
            </a:r>
          </a:p>
          <a:p>
            <a:pPr algn="l"/>
            <a:endParaRPr sz="1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health_stage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DEGRADING</a:t>
            </a:r>
          </a:p>
          <a:p>
            <a:pPr algn="l"/>
            <a:endParaRPr sz="1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operating_phase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HIGH_LOAD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5740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Aptos"/>
              </a:rPr>
              <a:t>RUL = min((limit - current) / Theil-Sen slope)</a:t>
            </a:r>
          </a:p>
          <a:p>
            <a:pPr algn="l"/>
            <a:r>
              <a:rPr sz="2000" b="1">
                <a:solidFill>
                  <a:srgbClr val="111111"/>
                </a:solidFill>
                <a:latin typeface="Aptos"/>
              </a:rPr>
              <a:t>across all sensors trending toward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657600"/>
            <a:ext cx="2743200" cy="11887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85232" y="378561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2" y="4160520"/>
            <a:ext cx="24688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Maintenance can be scheduled before the fault becomes a shutdown.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657600"/>
            <a:ext cx="2743200" cy="11887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1" y="378561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4160520"/>
            <a:ext cx="24688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Trend slope beats raw thresholding when degradation is slow and phase-aware.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WHY THE LLM IS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Math detects. The LLM explains and decides.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017520" cy="2926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65376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Aptos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27432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Detects anomalies via z-score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Confirms persistence windows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Estimates RUL via slope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Scores priority pre-rank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Flags fleet vs machine faults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1737360" cy="23317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2139696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COMPRESSED</a:t>
            </a:r>
          </a:p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PACKET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514600"/>
            <a:ext cx="146304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Short,</a:t>
            </a:r>
          </a:p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structured</a:t>
            </a:r>
          </a:p>
          <a:p>
            <a:pPr algn="l"/>
            <a:r>
              <a:rPr sz="900" b="0">
                <a:solidFill>
                  <a:srgbClr val="111111"/>
                </a:solidFill>
                <a:latin typeface="Aptos"/>
              </a:rPr>
              <a:t>input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737360"/>
            <a:ext cx="384048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1152" y="1865376"/>
            <a:ext cx="3566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LLM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240280"/>
            <a:ext cx="356616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Explains likely root cause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Adds time-of-day context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Ranks machine priority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Decides maintenance action</a:t>
            </a:r>
          </a:p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- Sets shutdown flag if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21208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onsolas"/>
              </a:rPr>
              <a:t>Token-efficient: the LLM never sees raw per-second sensor streams.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MULTI-MACHINE FAILURE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When multiple machines fail, triage first and act calmly.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1097280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6479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647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CNC_02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6479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647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Aptos"/>
              </a:rPr>
              <a:t>RUL: 12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4650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Thermal runaway: temperature spike plus sustained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87752"/>
            <a:ext cx="1097280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523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5234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CNC_01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5234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5234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Aptos"/>
              </a:rPr>
              <a:t>RUL: 87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3405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Bearing wear: vibration, temperature, and current 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75304"/>
            <a:ext cx="1097280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39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989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PUMP_03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3989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MODERATE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3989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Aptos"/>
              </a:rPr>
              <a:t>RUL: 3.2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216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Cavitation risk: vibration burst with RPM drop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562856"/>
            <a:ext cx="1097280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2744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72744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CONV_04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27448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274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Aptos"/>
              </a:rPr>
              <a:t>RUL: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7091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Sentinel reference: no action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onsolas"/>
              </a:rPr>
              <a:t>Priority = f(risk score, RUL urgency, persistence, hard fault, fleet/machine flag)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MAINTENANCE SCHEDULING &amp;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From anomaly to action,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192024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13969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Anomaly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14600"/>
            <a:ext cx="16459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industrial_alert_events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871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213969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Aptos"/>
              </a:rPr>
              <a:t>Priority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514600"/>
            <a:ext cx="16459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pre-score + LLM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871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192024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9512" y="213969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Aptos"/>
              </a:rPr>
              <a:t>Top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514600"/>
            <a:ext cx="16459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highest priority 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4871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192024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213969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Maintenance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514600"/>
            <a:ext cx="16459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industrial_maintenance_schedule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4871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011680"/>
            <a:ext cx="1920240" cy="14173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20072" y="213969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ptos"/>
              </a:rPr>
              <a:t>Machine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2514600"/>
            <a:ext cx="16459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power state -&gt; SHUTDOWN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343400"/>
            <a:ext cx="2468880" cy="10972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44752" y="447141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RUNNING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84632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Normal operation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4343400"/>
            <a:ext cx="3383280" cy="10972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3672" y="447141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QUEUED FOR SHUTDOWN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4846320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Maintenance imminent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343400"/>
            <a:ext cx="2103120" cy="10972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447141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SHUTDOWN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484632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Machine powered 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DASHBOARD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Full visibility into status, risk, RUL, queue, and power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583680" cy="416052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hatsApp Image 2026-04-18 at 3.58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32884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63040"/>
            <a:ext cx="3977639" cy="12344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591056"/>
            <a:ext cx="37033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What the dashboard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1965960"/>
            <a:ext cx="3703319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Live machine state and telemetry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Raised alerts with severity context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Maintenance schedule and queue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34640"/>
            <a:ext cx="3977639" cy="11430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2962656"/>
            <a:ext cx="37033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3337560"/>
            <a:ext cx="3703319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Operators can spot critical machines quickly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The queue aligns alerts with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160520"/>
            <a:ext cx="3977639" cy="11430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4288536"/>
            <a:ext cx="37033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Aptos"/>
              </a:rPr>
              <a:t>Key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663440"/>
            <a:ext cx="3703319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Faster triage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Explainable maintenance decisions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- Cleaner handoff from detection to shutdown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WHY THIS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Disciplined. Explainable. Operationally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Consolas"/>
              </a:rP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417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Consolas"/>
              </a:rPr>
              <a:t>TYPICAL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41732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Consolas"/>
              </a:rPr>
              <a:t>KAIROS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4767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Fixed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94767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MAD + z-score +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96312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60904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60904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Global static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6090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Per-machine adaptive rolling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09544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374136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Environment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74136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Misattributed as 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74136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Fleet correlation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22776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LLM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87368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Raw stream -&gt; token waste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087368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Compressed evidence packet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36008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RUL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800600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Absent or simple countdown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800600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Theil-Sen slope + health stages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349240"/>
            <a:ext cx="10927080" cy="594360"/>
          </a:xfrm>
          <a:prstGeom prst="roundRect">
            <a:avLst/>
          </a:prstGeom>
          <a:solidFill>
            <a:srgbClr val="F3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51383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1383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Alert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51383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✓  Queue -&gt; Ticket -&gt; Schedule -&gt; 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"From raw telemetry to explainable maintenance action."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3F4F6"/>
                </a:solidFill>
                <a:latin typeface="Consolas"/>
              </a:rPr>
              <a:t>Statistics detect  ·  Baselines normalize  ·  Fleet context localizes  ·  LLM explains and decides  ·  Automation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timing makes the 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114800"/>
            <a:ext cx="1645920" cy="64008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43434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CNC_01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4114800"/>
            <a:ext cx="1645920" cy="64008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81160" y="43434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CNC_02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029200"/>
            <a:ext cx="1645920" cy="64008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52578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PUMP_03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5029200"/>
            <a:ext cx="1645920" cy="640080"/>
          </a:xfrm>
          <a:prstGeom prst="roundRect">
            <a:avLst/>
          </a:prstGeom>
          <a:solidFill>
            <a:srgbClr val="0C1219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52578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CONV_04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Consolas"/>
              </a:rPr>
              <a:t>AGENTIC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 Display"/>
              </a:rPr>
              <a:t>Fleet-aware sensor-to-action orchestration built in n8n.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Anomaly detected -&gt; Supervisor triage -&gt; Diagnostic reasoning -&gt; Priority routing -&gt; Gmail alert -&gt; Webhook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13258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86537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01 - Ingest &amp; Supervise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40280"/>
            <a:ext cx="310896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Webhook receives the sensor anomaly. Fleet Supervisor triages with fleet memory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3383280" cy="13258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41985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02 - Diagnose &amp; Enrich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94760"/>
            <a:ext cx="310896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Fleet-aware agent queries Supabase. OpenAI reasons on root cause and severity.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3383280" cy="13258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97433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03 - Route &amp;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49240"/>
            <a:ext cx="310896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Aptos"/>
              </a:rPr>
              <a:t>Rules-based router dispatches Gmail alerts by severity tier and confirms by webhook.</a:t>
            </a:r>
          </a:p>
        </p:txBody>
      </p:sp>
      <p:pic>
        <p:nvPicPr>
          <p:cNvPr id="14" name="Picture 13" descr="extracted_n8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7040880" cy="25412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1061</Words>
  <Application>Microsoft Office PowerPoint</Application>
  <PresentationFormat>Widescreen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dj</cp:lastModifiedBy>
  <cp:revision>1</cp:revision>
  <dcterms:created xsi:type="dcterms:W3CDTF">2013-01-27T09:14:16Z</dcterms:created>
  <dcterms:modified xsi:type="dcterms:W3CDTF">2026-04-18T05:26:18Z</dcterms:modified>
  <cp:category/>
</cp:coreProperties>
</file>